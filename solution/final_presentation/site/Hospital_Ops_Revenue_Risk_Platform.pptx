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B6834"/>
                </a:solidFill>
                <a:latin typeface="Calibri"/>
              </a:rPr>
              <a:t>CAPSTONE · EXECUTIVE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0B0B0B"/>
                </a:solidFill>
                <a:latin typeface="Calibri"/>
              </a:rPr>
              <a:t>A trusted data foundation, two decision</a:t>
            </a:r>
          </a:p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0B0B0B"/>
                </a:solidFill>
                <a:latin typeface="Calibri"/>
              </a:rPr>
              <a:t>models, and a governed platform for</a:t>
            </a:r>
          </a:p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0B0B0B"/>
                </a:solidFill>
                <a:latin typeface="Calibri"/>
              </a:rPr>
              <a:t>one hospital network.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9692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5A5A57"/>
                </a:solidFill>
                <a:latin typeface="Calibri"/>
              </a:rPr>
              <a:t>Hospital Operations &amp; Revenue Risk Intelligence Platform — turning one calendar year of visit and claims data across a multi-specialty, multi-city network into a queryable analytics layer, a priced pre-submission claim-outcome model, a served API, and a drift-monitored, governed deployment.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89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5A5A57"/>
                </a:solidFill>
                <a:latin typeface="Calibri"/>
              </a:rPr>
              <a:t>Advanced Certificate Programme in Applied AI &amp; Machine Learning  ·  Healthcare Business Capstone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A78D6"/>
                </a:solidFill>
                <a:latin typeface="Calibri"/>
              </a:rPr>
              <a:t>github.com/code-4-fun/capstone-healthcare-analytics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B6834"/>
                </a:solidFill>
                <a:latin typeface="Calibri"/>
              </a:rPr>
              <a:t>WHERE WE'RE HEADED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Calibri"/>
              </a:rPr>
              <a:t>Agenda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66928" cy="530352"/>
          </a:xfrm>
          <a:prstGeom prst="roundRect">
            <a:avLst>
              <a:gd name="adj" fmla="val 45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56692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792224"/>
            <a:ext cx="9601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B0B0B"/>
                </a:solidFill>
                <a:latin typeface="Calibri"/>
              </a:rPr>
              <a:t>Hospital business problem &amp; operational risks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50592"/>
            <a:ext cx="566928" cy="530352"/>
          </a:xfrm>
          <a:prstGeom prst="roundRect">
            <a:avLst>
              <a:gd name="adj" fmla="val 45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450592"/>
            <a:ext cx="56692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505456"/>
            <a:ext cx="9601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B0B0B"/>
                </a:solidFill>
                <a:latin typeface="Calibri"/>
              </a:rPr>
              <a:t>End-to-end system architecture &amp; data 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163824"/>
            <a:ext cx="566928" cy="530352"/>
          </a:xfrm>
          <a:prstGeom prst="roundRect">
            <a:avLst>
              <a:gd name="adj" fmla="val 45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163824"/>
            <a:ext cx="56692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218688"/>
            <a:ext cx="9601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B0B0B"/>
                </a:solidFill>
                <a:latin typeface="Calibri"/>
              </a:rPr>
              <a:t>Key insights from SQL analytics &amp; EDA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77056"/>
            <a:ext cx="566928" cy="530352"/>
          </a:xfrm>
          <a:prstGeom prst="roundRect">
            <a:avLst>
              <a:gd name="adj" fmla="val 4500"/>
            </a:avLst>
          </a:prstGeom>
          <a:solidFill>
            <a:srgbClr val="C0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877056"/>
            <a:ext cx="56692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931920"/>
            <a:ext cx="9601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B0B0B"/>
                </a:solidFill>
                <a:latin typeface="Calibri"/>
              </a:rPr>
              <a:t>Model performance, in business terms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590288"/>
            <a:ext cx="566928" cy="530352"/>
          </a:xfrm>
          <a:prstGeom prst="roundRect">
            <a:avLst>
              <a:gd name="adj" fmla="val 4500"/>
            </a:avLst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590288"/>
            <a:ext cx="56692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645152"/>
            <a:ext cx="9601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B0B0B"/>
                </a:solidFill>
                <a:latin typeface="Calibri"/>
              </a:rPr>
              <a:t>Financial impact &amp; revenue optimization potential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566928" cy="530352"/>
          </a:xfrm>
          <a:prstGeom prst="roundRect">
            <a:avLst>
              <a:gd name="adj" fmla="val 4500"/>
            </a:avLst>
          </a:prstGeom>
          <a:solidFill>
            <a:srgbClr val="E34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303520"/>
            <a:ext cx="56692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358384"/>
            <a:ext cx="9601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B0B0B"/>
                </a:solidFill>
                <a:latin typeface="Calibri"/>
              </a:rPr>
              <a:t>Deployment, scaling &amp; governance 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5A57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A5A57"/>
                </a:solidFill>
                <a:latin typeface="Calibri"/>
              </a:rPr>
              <a:t>Hospital Operations &amp; Revenue Risk Intelligence Platform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B6834"/>
                </a:solidFill>
                <a:latin typeface="Calibri"/>
              </a:rPr>
              <a:t>THE BUSINESS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Calibri"/>
              </a:rPr>
              <a:t>Three coupled failures, one connected fix.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A5A57"/>
                </a:solidFill>
                <a:latin typeface="Calibri"/>
              </a:rPr>
              <a:t>Measured directly from the network's own 2025 data — 5,000 patients, 25,000 visits, 25,000 claims across departments, providers and insurers.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8840"/>
            <a:ext cx="3520440" cy="3291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D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48840"/>
            <a:ext cx="3520440" cy="7315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423160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A78D6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63240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B0B0B"/>
                </a:solidFill>
                <a:latin typeface="Calibri"/>
              </a:rPr>
              <a:t>Patient-flow blindness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611880"/>
            <a:ext cx="2971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A5A57"/>
                </a:solidFill>
                <a:latin typeface="Calibri"/>
              </a:rPr>
              <a:t>No forward view of where demand, acuity and length-of-stay pressure will land, so staffing and bed planning stay reactive instead of planned.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2148840"/>
            <a:ext cx="3520440" cy="3291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D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2148840"/>
            <a:ext cx="3520440" cy="73152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2423160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B6834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063240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B0B0B"/>
                </a:solidFill>
                <a:latin typeface="Calibri"/>
              </a:rPr>
              <a:t>Revenue leakage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611880"/>
            <a:ext cx="2971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A5A57"/>
                </a:solidFill>
                <a:latin typeface="Calibri"/>
              </a:rPr>
              <a:t>Insurance claims are rejected or under-approved after the fact — 17.6% of billed value lost to denials, another 24.5% sitting in pending limbo.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80" y="2148840"/>
            <a:ext cx="3520440" cy="3291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D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55280" y="2148840"/>
            <a:ext cx="3520440" cy="73152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2423160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BAF7A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063240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B0B0B"/>
                </a:solidFill>
                <a:latin typeface="Calibri"/>
              </a:rPr>
              <a:t>No predictive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611880"/>
            <a:ext cx="2971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A5A57"/>
                </a:solidFill>
                <a:latin typeface="Calibri"/>
              </a:rPr>
              <a:t>Decisions are made on lagging reports, not on risk-scored, forward-looking signals a claims team can act on before submission.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5A57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A5A57"/>
                </a:solidFill>
                <a:latin typeface="Calibri"/>
              </a:rPr>
              <a:t>Hospital Operations &amp; Revenue Risk Intelligence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B6834"/>
                </a:solidFill>
                <a:latin typeface="Calibri"/>
              </a:rPr>
              <a:t>THE STAKES, IN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Calibri"/>
              </a:rPr>
              <a:t>What's on the table for hospital leadership.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2697480" cy="23774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D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514600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C0302E"/>
                </a:solidFill>
                <a:latin typeface="Calibri"/>
              </a:rPr>
              <a:t>17.6%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429000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i="0">
                <a:solidFill>
                  <a:srgbClr val="5A5A57"/>
                </a:solidFill>
                <a:latin typeface="Calibri"/>
              </a:rPr>
              <a:t>of billed revenue lost to denials (₹91.8M)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2194560"/>
            <a:ext cx="2697480" cy="23774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D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2514600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2A78D6"/>
                </a:solidFill>
                <a:latin typeface="Calibri"/>
              </a:rPr>
              <a:t>57.9%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3429000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i="0">
                <a:solidFill>
                  <a:srgbClr val="5A5A57"/>
                </a:solidFill>
                <a:latin typeface="Calibri"/>
              </a:rPr>
              <a:t>revenue realization, billed → collected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194560"/>
            <a:ext cx="2697480" cy="23774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D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514600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1BAF7A"/>
                </a:solidFill>
                <a:latin typeface="Calibri"/>
              </a:rPr>
              <a:t>62%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3429000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i="0">
                <a:solidFill>
                  <a:srgbClr val="5A5A57"/>
                </a:solidFill>
                <a:latin typeface="Calibri"/>
              </a:rPr>
              <a:t>recall on Rejected claims at the deployed operating threshold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2194560"/>
            <a:ext cx="2697480" cy="23774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D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2514600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2A78D6"/>
                </a:solidFill>
                <a:latin typeface="Calibri"/>
              </a:rPr>
              <a:t>₹15L/mo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60" y="3429000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i="0">
                <a:solidFill>
                  <a:srgbClr val="5A5A57"/>
                </a:solidFill>
                <a:latin typeface="Calibri"/>
              </a:rPr>
              <a:t>recoverable denial leakage at the chosen threshold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93776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5A5A57"/>
                </a:solidFill>
                <a:latin typeface="Calibri"/>
              </a:rPr>
              <a:t>These are not abstract analytics metrics — they translate directly into a monthly claims-review workload, a cash-flow forecast, and a board-level revenue-leakage number.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5A57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A5A57"/>
                </a:solidFill>
                <a:latin typeface="Calibri"/>
              </a:rPr>
              <a:t>Hospital Operations &amp; Revenue Risk Intelligence Platform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B6834"/>
                </a:solidFill>
                <a:latin typeface="Calibri"/>
              </a:rPr>
              <a:t>HOW THE PLATFORM FITS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0B0B"/>
                </a:solidFill>
                <a:latin typeface="Calibri"/>
              </a:rPr>
              <a:t>Each phase produces the artefact the next one consumes.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A5A57"/>
                </a:solidFill>
                <a:latin typeface="Calibri"/>
              </a:rPr>
              <a:t>One pipeline, six phases, no hand-offs outside the repo — the same Postgres schema, feature catalogue and leakage register run from raw CSV to a served, monitored prediction.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8840"/>
            <a:ext cx="1673352" cy="1417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905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673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A78D6"/>
                </a:solidFill>
                <a:latin typeface="Calibri"/>
              </a:rPr>
              <a:t>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606040"/>
            <a:ext cx="1527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B0B0B"/>
                </a:solidFill>
                <a:latin typeface="Calibri"/>
              </a:rPr>
              <a:t>SQL 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3017520"/>
            <a:ext cx="15270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5A5A57"/>
                </a:solidFill>
                <a:latin typeface="Calibri"/>
              </a:rPr>
              <a:t>Postgres · 10 BI views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59152" y="2148840"/>
            <a:ext cx="1673352" cy="1417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9050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59152" y="2286000"/>
            <a:ext cx="1673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B6834"/>
                </a:solidFill>
                <a:latin typeface="Calibri"/>
              </a:rPr>
              <a:t>PHASE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32304" y="2606040"/>
            <a:ext cx="1527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B0B0B"/>
                </a:solidFill>
                <a:latin typeface="Calibri"/>
              </a:rPr>
              <a:t>EDA &amp; Data Quality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32304" y="3017520"/>
            <a:ext cx="15270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5A5A57"/>
                </a:solidFill>
                <a:latin typeface="Calibri"/>
              </a:rPr>
              <a:t>Feature &amp; leakage register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221992" y="2857500.0"/>
            <a:ext cx="137160" cy="0.0"/>
          </a:xfrm>
          <a:prstGeom prst="bentConnector3">
            <a:avLst/>
          </a:prstGeom>
          <a:ln w="19050">
            <a:solidFill>
              <a:srgbClr val="8A89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169664" y="2148840"/>
            <a:ext cx="1673352" cy="1417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9050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69664" y="2286000"/>
            <a:ext cx="1673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BAF7A"/>
                </a:solidFill>
                <a:latin typeface="Calibri"/>
              </a:rPr>
              <a:t>PHASE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42816" y="2606040"/>
            <a:ext cx="1527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B0B0B"/>
                </a:solidFill>
                <a:latin typeface="Calibri"/>
              </a:rPr>
              <a:t>Modelling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42816" y="3017520"/>
            <a:ext cx="15270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5A5A57"/>
                </a:solidFill>
                <a:latin typeface="Calibri"/>
              </a:rPr>
              <a:t>Model A + Model B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032504" y="2857500.0"/>
            <a:ext cx="137160" cy="0.0"/>
          </a:xfrm>
          <a:prstGeom prst="bentConnector3">
            <a:avLst/>
          </a:prstGeom>
          <a:ln w="19050">
            <a:solidFill>
              <a:srgbClr val="8A89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980176" y="2148840"/>
            <a:ext cx="1673352" cy="1417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9050">
            <a:solidFill>
              <a:srgbClr val="C07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80176" y="2286000"/>
            <a:ext cx="1673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C07F00"/>
                </a:solidFill>
                <a:latin typeface="Calibri"/>
              </a:rPr>
              <a:t>PHASE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53328" y="2606040"/>
            <a:ext cx="1527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B0B0B"/>
                </a:solidFill>
                <a:latin typeface="Calibri"/>
              </a:rPr>
              <a:t>Evaluation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53328" y="3017520"/>
            <a:ext cx="15270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5A5A57"/>
                </a:solidFill>
                <a:latin typeface="Calibri"/>
              </a:rPr>
              <a:t>Threshold · fairness · cards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843016" y="2857500.0"/>
            <a:ext cx="137160" cy="0.0"/>
          </a:xfrm>
          <a:prstGeom prst="bentConnector3">
            <a:avLst/>
          </a:prstGeom>
          <a:ln w="19050">
            <a:solidFill>
              <a:srgbClr val="8A89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90688" y="2148840"/>
            <a:ext cx="1673352" cy="1417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9050">
            <a:solidFill>
              <a:srgbClr val="4A3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90688" y="2286000"/>
            <a:ext cx="1673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4A3AA7"/>
                </a:solidFill>
                <a:latin typeface="Calibri"/>
              </a:rPr>
              <a:t>PHASE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2606040"/>
            <a:ext cx="1527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B0B0B"/>
                </a:solidFill>
                <a:latin typeface="Calibri"/>
              </a:rPr>
              <a:t>Deployment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3017520"/>
            <a:ext cx="15270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5A5A57"/>
                </a:solidFill>
                <a:latin typeface="Calibri"/>
              </a:rPr>
              <a:t>FastAPI · prediction log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653528" y="2857500.0"/>
            <a:ext cx="137160" cy="0.0"/>
          </a:xfrm>
          <a:prstGeom prst="bentConnector3">
            <a:avLst/>
          </a:prstGeom>
          <a:ln w="19050">
            <a:solidFill>
              <a:srgbClr val="8A89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01200" y="2148840"/>
            <a:ext cx="1673352" cy="1417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9050">
            <a:solidFill>
              <a:srgbClr val="E34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0" y="2286000"/>
            <a:ext cx="1673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34948"/>
                </a:solidFill>
                <a:latin typeface="Calibri"/>
              </a:rPr>
              <a:t>PHASE 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74352" y="2606040"/>
            <a:ext cx="1527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B0B0B"/>
                </a:solidFill>
                <a:latin typeface="Calibri"/>
              </a:rPr>
              <a:t>Monitoring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74352" y="3017520"/>
            <a:ext cx="15270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5A5A57"/>
                </a:solidFill>
                <a:latin typeface="Calibri"/>
              </a:rPr>
              <a:t>Drift · governance · audit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464040" y="2857500.0"/>
            <a:ext cx="137160" cy="0.0"/>
          </a:xfrm>
          <a:prstGeom prst="bentConnector3">
            <a:avLst/>
          </a:prstGeom>
          <a:ln w="19050">
            <a:solidFill>
              <a:srgbClr val="8A89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48640" y="388620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1">
                <a:solidFill>
                  <a:srgbClr val="5A5A57"/>
                </a:solidFill>
                <a:latin typeface="Calibri"/>
              </a:rPr>
              <a:t>Retraining triggers (drift, quarterly cadence) feed back into Phase 2 → 3 → 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66344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1">
                <a:solidFill>
                  <a:srgbClr val="0B0B0B"/>
                </a:solidFill>
                <a:latin typeface="Calibri"/>
              </a:rPr>
              <a:t>Raw CSVs → typed Postgres tables → curated feature frame → two calibrated classifiers → an evaluated, priced decision → a served, logged API → a monitored, governed production loop.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5A57"/>
                </a:solidFill>
                <a:latin typeface="Calibr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A5A57"/>
                </a:solidFill>
                <a:latin typeface="Calibri"/>
              </a:rPr>
              <a:t>Hospital Operations &amp; Revenue Risk Intelligence Platform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A78D6"/>
                </a:solidFill>
                <a:latin typeface="Calibri"/>
              </a:rPr>
              <a:t>THE PLATFORM, PHASE BY PHASE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713232"/>
            <a:ext cx="502920" cy="502920"/>
          </a:xfrm>
          <a:prstGeom prst="roundRect">
            <a:avLst>
              <a:gd name="adj" fmla="val 45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71323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0B0B"/>
                </a:solidFill>
                <a:latin typeface="Calibri"/>
              </a:rPr>
              <a:t>SQL Analytics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A78D6"/>
                </a:solidFill>
                <a:latin typeface="Calibri"/>
              </a:rPr>
              <a:t>Postgres · typed schema · 10 BI views · data-quality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5943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5A5A57"/>
                </a:solidFill>
                <a:latin typeface="Calibri"/>
              </a:rPr>
              <a:t>Three raw CSVs become a trusted, indexed capstone_solution schema — PKs, FKs and CHECK constraints enforced in-database, ten business-intelligence views, and a 12-check automated data-quality report. This is the spine every later phase reads from.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794760"/>
            <a:ext cx="5943600" cy="1417320"/>
          </a:xfrm>
          <a:prstGeom prst="roundRect">
            <a:avLst>
              <a:gd name="adj" fmla="val 4500"/>
            </a:avLst>
          </a:prstGeom>
          <a:solidFill>
            <a:srgbClr val="F3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931920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B0B0B"/>
                </a:solidFill>
                <a:latin typeface="Calibri"/>
              </a:rPr>
              <a:t>521.8M billed → 302.3M collected — 57.9% realization; rejections peak at 22.7% in the 15k–30k billed band, non-monotonic in amount.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3949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2A78D6"/>
                </a:solidFill>
                <a:latin typeface="Calibri"/>
              </a:rPr>
              <a:t>solution/phase1_*  ·  1_FINDINGS.md</a:t>
            </a:r>
          </a:p>
        </p:txBody>
      </p:sp>
      <p:pic>
        <p:nvPicPr>
          <p:cNvPr id="12" name="Picture 11" descr="p1_revenue_water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783080"/>
            <a:ext cx="4892040" cy="147090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720840" y="6080760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5A5A57"/>
                </a:solidFill>
                <a:latin typeface="Calibri"/>
              </a:rPr>
              <a:t>Revenue waterfall: billed → approved → collected, with pending and denial leakage broken out.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5A57"/>
                </a:solidFill>
                <a:latin typeface="Calibri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A5A57"/>
                </a:solidFill>
                <a:latin typeface="Calibri"/>
              </a:rPr>
              <a:t>Hospital Operations &amp; Revenue Risk Intelligence Platform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B6834"/>
                </a:solidFill>
                <a:latin typeface="Calibri"/>
              </a:rPr>
              <a:t>THE PLATFORM, PHASE BY PHASE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713232"/>
            <a:ext cx="502920" cy="502920"/>
          </a:xfrm>
          <a:prstGeom prst="roundRect">
            <a:avLst>
              <a:gd name="adj" fmla="val 45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71323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0B0B"/>
                </a:solidFill>
                <a:latin typeface="Calibri"/>
              </a:rPr>
              <a:t>EDA &amp;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B6834"/>
                </a:solidFill>
                <a:latin typeface="Calibri"/>
              </a:rPr>
              <a:t>Profiling · leakage register · feature catalogue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5943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5A5A57"/>
                </a:solidFill>
                <a:latin typeface="Calibri"/>
              </a:rPr>
              <a:t>Turns the analytics layer into modelling readiness: every candidate feature is profiled for signal against the permuted-target noise floor, four data-quality findings get a written handling policy, and the leakage register that governs Phase 3 is written down field by field.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794760"/>
            <a:ext cx="5943600" cy="1417320"/>
          </a:xfrm>
          <a:prstGeom prst="roundRect">
            <a:avLst>
              <a:gd name="adj" fmla="val 4500"/>
            </a:avLst>
          </a:prstGeom>
          <a:solidFill>
            <a:srgbClr val="F3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931920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B0B0B"/>
                </a:solidFill>
                <a:latin typeface="Calibri"/>
              </a:rPr>
              <a:t>Model A has no learnable signal — every feature sits below the noise floor. Model B is a billed-amount model, and the mid billed-band carries 70% of the 91.8M denial leakage.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3949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2A78D6"/>
                </a:solidFill>
                <a:latin typeface="Calibri"/>
              </a:rPr>
              <a:t>solution/phase2_*  ·  2_FINDINGS.md</a:t>
            </a:r>
          </a:p>
        </p:txBody>
      </p:sp>
      <p:pic>
        <p:nvPicPr>
          <p:cNvPr id="12" name="Picture 11" descr="p2_denial_leakage_concen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783080"/>
            <a:ext cx="4892040" cy="231238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720840" y="6080760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5A5A57"/>
                </a:solidFill>
                <a:latin typeface="Calibri"/>
              </a:rPr>
              <a:t>Denial leakage is concentrated in the mid billed-amount band, not spread evenly across claim size.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5A57"/>
                </a:solidFill>
                <a:latin typeface="Calibri"/>
              </a:rP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A5A57"/>
                </a:solidFill>
                <a:latin typeface="Calibri"/>
              </a:rPr>
              <a:t>Hospital Operations &amp; Revenue Risk Intelligence Platform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AF7A"/>
                </a:solidFill>
                <a:latin typeface="Calibri"/>
              </a:rPr>
              <a:t>THE PLATFORM, PHASE BY PHASE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713232"/>
            <a:ext cx="502920" cy="502920"/>
          </a:xfrm>
          <a:prstGeom prst="roundRect">
            <a:avLst>
              <a:gd name="adj" fmla="val 45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71323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0B0B"/>
                </a:solidFill>
                <a:latin typeface="Calibri"/>
              </a:rPr>
              <a:t>Model Development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AF7A"/>
                </a:solidFill>
                <a:latin typeface="Calibri"/>
              </a:rPr>
              <a:t>Two time-validated classifiers · calibrated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5943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5A5A57"/>
                </a:solidFill>
                <a:latin typeface="Calibri"/>
              </a:rPr>
              <a:t>Model A (visit risk) and Model B (pre-submission claim outcome) are both split on visit_date — 9 months train, 1 validate, 2 test, no shuffle — and calibrated on the validation month. Only the learned candidate that clears both the majority baseline and the domain simple-rule ships; otherwise the baseline itself ships as a monitor.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794760"/>
            <a:ext cx="5943600" cy="1417320"/>
          </a:xfrm>
          <a:prstGeom prst="roundRect">
            <a:avLst>
              <a:gd name="adj" fmla="val 4500"/>
            </a:avLst>
          </a:prstGeom>
          <a:solidFill>
            <a:srgbClr val="F3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931920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B0B0B"/>
                </a:solidFill>
                <a:latin typeface="Calibri"/>
              </a:rPr>
              <a:t>Model B recall on Rejected: 66% (vs 0% majority baseline, 62% simple rule) on the held-out test window.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3949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2A78D6"/>
                </a:solidFill>
                <a:latin typeface="Calibri"/>
              </a:rPr>
              <a:t>solution/phase3_*  ·  3_FINDINGS.md</a:t>
            </a:r>
          </a:p>
        </p:txBody>
      </p:sp>
      <p:pic>
        <p:nvPicPr>
          <p:cNvPr id="12" name="Picture 11" descr="p3_costly_class_rec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783080"/>
            <a:ext cx="4892040" cy="242859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720840" y="6080760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5A5A57"/>
                </a:solidFill>
                <a:latin typeface="Calibri"/>
              </a:rPr>
              <a:t>Recall on the costly class (Rejected) — the model versus the majority and simple-rule baselines.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5A57"/>
                </a:solidFill>
                <a:latin typeface="Calibri"/>
              </a:rP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A5A57"/>
                </a:solidFill>
                <a:latin typeface="Calibri"/>
              </a:rPr>
              <a:t>Hospital Operations &amp; Revenue Risk Intelligence Platform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07F00"/>
                </a:solidFill>
                <a:latin typeface="Calibri"/>
              </a:rPr>
              <a:t>THE PLATFORM, PHASE BY PHASE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713232"/>
            <a:ext cx="502920" cy="502920"/>
          </a:xfrm>
          <a:prstGeom prst="roundRect">
            <a:avLst>
              <a:gd name="adj" fmla="val 4500"/>
            </a:avLst>
          </a:prstGeom>
          <a:solidFill>
            <a:srgbClr val="C0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71323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0B0B"/>
                </a:solidFill>
                <a:latin typeface="Calibri"/>
              </a:rPr>
              <a:t>Evaluation &amp; Explainability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07F00"/>
                </a:solidFill>
                <a:latin typeface="Calibri"/>
              </a:rPr>
              <a:t>Threshold, SHAP, leakage ablation, fairness, model cards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5943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5A5A57"/>
                </a:solidFill>
                <a:latin typeface="Calibri"/>
              </a:rPr>
              <a:t>Turns Model B into an operating decision: the calibrated P(Rejected) threshold is chosen on validation to maximise net recoverable leakage, verified clean of leakage by ablation (injecting a forbidden field spikes accuracy to 0.96 — the shipped model sits at the clean row), and checked for fairness across gender, age band, city and insurer.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794760"/>
            <a:ext cx="5943600" cy="1417320"/>
          </a:xfrm>
          <a:prstGeom prst="roundRect">
            <a:avLst>
              <a:gd name="adj" fmla="val 4500"/>
            </a:avLst>
          </a:prstGeom>
          <a:solidFill>
            <a:srgbClr val="F3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931920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B0B0B"/>
                </a:solidFill>
                <a:latin typeface="Calibri"/>
              </a:rPr>
              <a:t>Operating threshold P(Rejected) ≥ 0.19 → ~850 review alerts/month, ~₹15L/month recoverable denial leakage (~₹5L net of review cost). No protected attribute fails the four-fifths parity test.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3949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2A78D6"/>
                </a:solidFill>
                <a:latin typeface="Calibri"/>
              </a:rPr>
              <a:t>solution/phase4_*  ·  4_FINDINGS.md</a:t>
            </a:r>
          </a:p>
        </p:txBody>
      </p:sp>
      <p:pic>
        <p:nvPicPr>
          <p:cNvPr id="12" name="Picture 11" descr="p4_net_recovery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783080"/>
            <a:ext cx="4892040" cy="254479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720840" y="6080760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5A5A57"/>
                </a:solidFill>
                <a:latin typeface="Calibri"/>
              </a:rPr>
              <a:t>Net recoverable leakage across candidate thresholds — the operating point maximises the business return.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5A57"/>
                </a:solidFill>
                <a:latin typeface="Calibri"/>
              </a:rP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A5A57"/>
                </a:solidFill>
                <a:latin typeface="Calibri"/>
              </a:rPr>
              <a:t>Hospital Operations &amp; Revenue Risk Intelligence Platform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A3AA7"/>
                </a:solidFill>
                <a:latin typeface="Calibri"/>
              </a:rPr>
              <a:t>THE PLATFORM, PHASE BY PHASE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713232"/>
            <a:ext cx="502920" cy="502920"/>
          </a:xfrm>
          <a:prstGeom prst="roundRect">
            <a:avLst>
              <a:gd name="adj" fmla="val 4500"/>
            </a:avLst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71323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0B0B"/>
                </a:solidFill>
                <a:latin typeface="Calibri"/>
              </a:rPr>
              <a:t>Deployment &amp;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A3AA7"/>
                </a:solidFill>
                <a:latin typeface="Calibri"/>
              </a:rPr>
              <a:t>FastAPI · versioned artefacts · prediction log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5943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5A5A57"/>
                </a:solidFill>
                <a:latin typeface="Calibri"/>
              </a:rPr>
              <a:t>Serves the persisted Phase 3 models behind two endpoints, strict Pydantic validation bound to the Phase 1 domain constraints, and a Postgres prediction log that becomes Phase 6's drift baseline. Every response echoes its model, feature-spec and threshold versions.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794760"/>
            <a:ext cx="5943600" cy="1417320"/>
          </a:xfrm>
          <a:prstGeom prst="roundRect">
            <a:avLst>
              <a:gd name="adj" fmla="val 4500"/>
            </a:avLst>
          </a:prstGeom>
          <a:solidFill>
            <a:srgbClr val="F3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931920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B0B0B"/>
                </a:solidFill>
                <a:latin typeface="Calibri"/>
              </a:rPr>
              <a:t>Two endpoints in production shape — /predict/claim-outcome (review vs submit) and /predict/visit-risk (a base-rate monitor, not a per-visit decision), plus /model-info and /health.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3949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2A78D6"/>
                </a:solidFill>
                <a:latin typeface="Calibri"/>
              </a:rPr>
              <a:t>solution/phase5_*  ·  5_FINDINGS.md</a:t>
            </a:r>
          </a:p>
        </p:txBody>
      </p:sp>
      <p:pic>
        <p:nvPicPr>
          <p:cNvPr id="12" name="Picture 11" descr="p5_lat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783080"/>
            <a:ext cx="4892040" cy="254479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720840" y="6080760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5A5A57"/>
                </a:solidFill>
                <a:latin typeface="Calibri"/>
              </a:rPr>
              <a:t>Served prediction latency — both endpoints benchmarked as part of every build.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5A57"/>
                </a:solidFill>
                <a:latin typeface="Calibri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A5A57"/>
                </a:solidFill>
                <a:latin typeface="Calibri"/>
              </a:rPr>
              <a:t>Hospital Operations &amp; Revenue Risk Intelligence Platform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34948"/>
                </a:solidFill>
                <a:latin typeface="Calibri"/>
              </a:rPr>
              <a:t>THE PLATFORM, PHASE BY PHASE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713232"/>
            <a:ext cx="502920" cy="502920"/>
          </a:xfrm>
          <a:prstGeom prst="roundRect">
            <a:avLst>
              <a:gd name="adj" fmla="val 4500"/>
            </a:avLst>
          </a:prstGeom>
          <a:solidFill>
            <a:srgbClr val="E34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71323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0B0B"/>
                </a:solidFill>
                <a:latin typeface="Calibri"/>
              </a:rPr>
              <a:t>Monitoring, Drift &amp; Governance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34948"/>
                </a:solidFill>
                <a:latin typeface="Calibri"/>
              </a:rPr>
              <a:t>PSI/KS drift · append-only audit · Grafana · governance docs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5943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5A5A57"/>
                </a:solidFill>
                <a:latin typeface="Calibri"/>
              </a:rPr>
              <a:t>Watches the prediction log a real deployment would generate: a request-validation gate, feature/prediction/performance drift against the Phase 3 training reference, an append-only drift_report and audit trail enforced by a database trigger, a Grafana dashboard, and the governance, retraining-policy and incident-runbook documents.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794760"/>
            <a:ext cx="5943600" cy="1417320"/>
          </a:xfrm>
          <a:prstGeom prst="roundRect">
            <a:avLst>
              <a:gd name="adj" fmla="val 4500"/>
            </a:avLst>
          </a:prstGeom>
          <a:solidFill>
            <a:srgbClr val="F3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931920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B0B0B"/>
                </a:solidFill>
                <a:latin typeface="Calibri"/>
              </a:rPr>
              <a:t>Drift job proven end to end — baseline traffic stays OK; injected drift trips feature-PSI alerts on billed amount, department and age, plus a ~34-point drop in Model B's recall on Rejected.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3949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2A78D6"/>
                </a:solidFill>
                <a:latin typeface="Calibri"/>
              </a:rPr>
              <a:t>solution/phase6_*  ·  6_FINDINGS.md</a:t>
            </a:r>
          </a:p>
        </p:txBody>
      </p:sp>
      <p:pic>
        <p:nvPicPr>
          <p:cNvPr id="12" name="Picture 11" descr="p6_feature_psi_dr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783080"/>
            <a:ext cx="4892040" cy="356735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720840" y="6080760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5A5A57"/>
                </a:solidFill>
                <a:latin typeface="Calibri"/>
              </a:rPr>
              <a:t>Feature PSI on the drifted traffic window — billed amount, department and age cross the significant-drift line.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5A57"/>
                </a:solidFill>
                <a:latin typeface="Calibri"/>
              </a:rPr>
              <a:t>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A5A57"/>
                </a:solidFill>
                <a:latin typeface="Calibri"/>
              </a:rPr>
              <a:t>Hospital Operations &amp; Revenue Risk Intelligence Platform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B6834"/>
                </a:solidFill>
                <a:latin typeface="Calibri"/>
              </a:rPr>
              <a:t>WHAT THIS MEANS FOR LEADERSHIP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Calibri"/>
              </a:rPr>
              <a:t>Business impact, in money and risk terms.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640080" cy="640080"/>
          </a:xfrm>
          <a:prstGeom prst="roundRect">
            <a:avLst>
              <a:gd name="adj" fmla="val 45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$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73352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0B0B"/>
                </a:solidFill>
                <a:latin typeface="Calibri"/>
              </a:rPr>
              <a:t>~₹15L/month in recoverable denial leakage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039112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5A5A57"/>
                </a:solidFill>
                <a:latin typeface="Calibri"/>
              </a:rPr>
              <a:t>at the chosen operating threshold, against a total ₹91.8M annual denial pool — roughly ~₹5L/month net of the review team's added workload.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880360"/>
            <a:ext cx="640080" cy="640080"/>
          </a:xfrm>
          <a:prstGeom prst="roundRect">
            <a:avLst>
              <a:gd name="adj" fmla="val 45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88036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862072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0B0B"/>
                </a:solidFill>
                <a:latin typeface="Calibri"/>
              </a:rPr>
              <a:t>~850 claims/month routed to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227832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5A5A57"/>
                </a:solidFill>
                <a:latin typeface="Calibri"/>
              </a:rPr>
              <a:t>a manageable pre-submission triage queue rather than a blanket policy change, sized directly from the validation-month sweep.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069080"/>
            <a:ext cx="640080" cy="640080"/>
          </a:xfrm>
          <a:prstGeom prst="roundRect">
            <a:avLst>
              <a:gd name="adj" fmla="val 45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06908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050792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0B0B"/>
                </a:solidFill>
                <a:latin typeface="Calibri"/>
              </a:rPr>
              <a:t>Denial drivers are not the obvious ones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416552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5A5A57"/>
                </a:solidFill>
                <a:latin typeface="Calibri"/>
              </a:rPr>
              <a:t>rejection rate is non-monotonic in billed amount and nearly flat across department, provider and risk band — the mid billed-band is the lever, not any one team.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257800"/>
            <a:ext cx="640080" cy="640080"/>
          </a:xfrm>
          <a:prstGeom prst="roundRect">
            <a:avLst>
              <a:gd name="adj" fmla="val 4500"/>
            </a:avLst>
          </a:prstGeom>
          <a:solidFill>
            <a:srgbClr val="C0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25780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239512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0B0B"/>
                </a:solidFill>
                <a:latin typeface="Calibri"/>
              </a:rPr>
              <a:t>Visit-risk scoring is not yet a usable signal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605272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5A5A57"/>
                </a:solidFill>
                <a:latin typeface="Calibri"/>
              </a:rPr>
              <a:t>Model A sits at the class-prior ceiling on this year's data; shipped as a risk-mix monitor, not a staffing decision — an honest ceiling, not a hidden one.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5A57"/>
                </a:solidFill>
                <a:latin typeface="Calibri"/>
              </a:rPr>
              <a:t>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A5A57"/>
                </a:solidFill>
                <a:latin typeface="Calibri"/>
              </a:rPr>
              <a:t>Hospital Operations &amp; Revenue Risk Intelligence Platform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B6834"/>
                </a:solidFill>
                <a:latin typeface="Calibri"/>
              </a:rPr>
              <a:t>RESPONSIBLE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Calibri"/>
              </a:rPr>
              <a:t>Governed the way a healthcare decision system should be.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5257800" cy="19659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D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73152" cy="19659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20"/>
            <a:ext cx="4709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0B0B"/>
                </a:solidFill>
                <a:latin typeface="Calibri"/>
              </a:rPr>
              <a:t>Leakage discipline, enforced in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40"/>
            <a:ext cx="4709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A5A57"/>
                </a:solidFill>
                <a:latin typeface="Calibri"/>
              </a:rPr>
              <a:t>visit_date is the only temporal key; no post-outcome field can reach either model, checked by leakage_violations() before every fit and proven by ablation at evaluation 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691640"/>
            <a:ext cx="5257800" cy="19659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D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1691640"/>
            <a:ext cx="73152" cy="196596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74520"/>
            <a:ext cx="4709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0B0B"/>
                </a:solidFill>
                <a:latin typeface="Calibri"/>
              </a:rPr>
              <a:t>Fairness checked at the operating threshold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377440"/>
            <a:ext cx="4709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A5A57"/>
                </a:solidFill>
                <a:latin typeface="Calibri"/>
              </a:rPr>
              <a:t>selection rate, recall, FPR and calibration gap measured per gender, age band, city and insurer against a four-fifths parity bar; gaps are monitored, not silently accepted.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931920"/>
            <a:ext cx="5257800" cy="19659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D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931920"/>
            <a:ext cx="73152" cy="196596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114800"/>
            <a:ext cx="4709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0B0B"/>
                </a:solidFill>
                <a:latin typeface="Calibri"/>
              </a:rPr>
              <a:t>Append-only audit trail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617720"/>
            <a:ext cx="4709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A5A57"/>
                </a:solidFill>
                <a:latin typeface="Calibri"/>
              </a:rPr>
              <a:t>prediction_log, drift_report and prediction_override reject UPDATE/DELETE at the database level — every prediction and every manual override is permanent.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3931920"/>
            <a:ext cx="5257800" cy="19659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D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80760" y="3931920"/>
            <a:ext cx="73152" cy="1965960"/>
          </a:xfrm>
          <a:prstGeom prst="rect">
            <a:avLst/>
          </a:prstGeom>
          <a:solidFill>
            <a:srgbClr val="E34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114800"/>
            <a:ext cx="4709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0B0B"/>
                </a:solidFill>
                <a:latin typeface="Calibri"/>
              </a:rPr>
              <a:t>Drift-triggered retraining policy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617720"/>
            <a:ext cx="4709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A5A57"/>
                </a:solidFill>
                <a:latin typeface="Calibri"/>
              </a:rPr>
              <a:t>written triggers (sustained PSI &gt; 0.25, recall drop &gt; 10pts, quarterly cadence), a shadow-then-promote procedure, and a one-config rollback via serving_config.json.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5A57"/>
                </a:solidFill>
                <a:latin typeface="Calibri"/>
              </a:rPr>
              <a:t>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A5A57"/>
                </a:solidFill>
                <a:latin typeface="Calibri"/>
              </a:rPr>
              <a:t>Hospital Operations &amp; Revenue Risk Intelligence Platform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B6834"/>
                </a:solidFill>
                <a:latin typeface="Calibri"/>
              </a:rPr>
              <a:t>BUILD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B0B0B"/>
                </a:solidFill>
                <a:latin typeface="Calibri"/>
              </a:rPr>
              <a:t>All six phases built, verified, and reproducible from a clean checkout.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10881360" cy="457200"/>
          </a:xfrm>
          <a:prstGeom prst="rect">
            <a:avLst/>
          </a:prstGeom>
          <a:solidFill>
            <a:srgbClr val="2A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46504"/>
            <a:ext cx="914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Phase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746504"/>
            <a:ext cx="7315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1746504"/>
            <a:ext cx="1371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State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48840"/>
            <a:ext cx="108813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148840"/>
            <a:ext cx="914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0B0B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148840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0B0B0B"/>
                </a:solidFill>
                <a:latin typeface="Calibri"/>
              </a:rPr>
              <a:t>SQL analytics layer (Postgres)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0" y="214884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AF7A"/>
                </a:solidFill>
                <a:latin typeface="Calibri"/>
              </a:rPr>
              <a:t>✓ Built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651760"/>
            <a:ext cx="10881360" cy="502920"/>
          </a:xfrm>
          <a:prstGeom prst="rect">
            <a:avLst/>
          </a:prstGeom>
          <a:solidFill>
            <a:srgbClr val="F3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651760"/>
            <a:ext cx="914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0B0B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651760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0B0B0B"/>
                </a:solidFill>
                <a:latin typeface="Calibri"/>
              </a:rPr>
              <a:t>EDA &amp; data quality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265176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AF7A"/>
                </a:solidFill>
                <a:latin typeface="Calibri"/>
              </a:rPr>
              <a:t>✓ Built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154680"/>
            <a:ext cx="108813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154680"/>
            <a:ext cx="914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0B0B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3154680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0B0B0B"/>
                </a:solidFill>
                <a:latin typeface="Calibri"/>
              </a:rPr>
              <a:t>Model development (classification)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315468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AF7A"/>
                </a:solidFill>
                <a:latin typeface="Calibri"/>
              </a:rPr>
              <a:t>✓ Built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657600"/>
            <a:ext cx="10881360" cy="502920"/>
          </a:xfrm>
          <a:prstGeom prst="rect">
            <a:avLst/>
          </a:prstGeom>
          <a:solidFill>
            <a:srgbClr val="F3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657600"/>
            <a:ext cx="914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0B0B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3657600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0B0B0B"/>
                </a:solidFill>
                <a:latin typeface="Calibri"/>
              </a:rPr>
              <a:t>Evaluation &amp; explainability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0" y="3657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AF7A"/>
                </a:solidFill>
                <a:latin typeface="Calibri"/>
              </a:rPr>
              <a:t>✓ Built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160520"/>
            <a:ext cx="108813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160520"/>
            <a:ext cx="914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0B0B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4160520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0B0B0B"/>
                </a:solidFill>
                <a:latin typeface="Calibri"/>
              </a:rPr>
              <a:t>Deployment &amp; API (FastAPI)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416052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AF7A"/>
                </a:solidFill>
                <a:latin typeface="Calibri"/>
              </a:rPr>
              <a:t>✓ Built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663440"/>
            <a:ext cx="10881360" cy="502920"/>
          </a:xfrm>
          <a:prstGeom prst="rect">
            <a:avLst/>
          </a:prstGeom>
          <a:solidFill>
            <a:srgbClr val="F3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663440"/>
            <a:ext cx="914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0B0B"/>
                </a:solidFill>
                <a:latin typeface="Calibri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4663440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0B0B0B"/>
                </a:solidFill>
                <a:latin typeface="Calibri"/>
              </a:rPr>
              <a:t>Monitoring, drift &amp; governance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0" y="466344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AF7A"/>
                </a:solidFill>
                <a:latin typeface="Calibri"/>
              </a:rPr>
              <a:t>✓ Built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5166360"/>
            <a:ext cx="108813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166360"/>
            <a:ext cx="914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0B0B"/>
                </a:solidFill>
                <a:latin typeface="Calibri"/>
              </a:rP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5166360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0B0B0B"/>
                </a:solidFill>
                <a:latin typeface="Calibri"/>
              </a:rPr>
              <a:t>Executive presentation (site + deck)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0" y="516636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AF7A"/>
                </a:solidFill>
                <a:latin typeface="Calibri"/>
              </a:rPr>
              <a:t>✓ Built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9893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A5A57"/>
                </a:solidFill>
                <a:latin typeface="Calibri"/>
              </a:rPr>
              <a:t>One command reproduces the whole stack from a clean checkout — docker compose up -d, then each phase's run_phase&lt;n&gt;.py.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5A57"/>
                </a:solidFill>
                <a:latin typeface="Calibri"/>
              </a:rPr>
              <a:t>14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A5A57"/>
                </a:solidFill>
                <a:latin typeface="Calibri"/>
              </a:rPr>
              <a:t>Hospital Operations &amp; Revenue Risk Intelligence Platform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0B0B0B"/>
                </a:solidFill>
                <a:latin typeface="Calibri"/>
              </a:rPr>
              <a:t>One cohesive, deployable platform —</a:t>
            </a:r>
          </a:p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0B0B0B"/>
                </a:solidFill>
                <a:latin typeface="Calibri"/>
              </a:rPr>
              <a:t>ready to propose to hospital leadership.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9601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5A5A57"/>
                </a:solidFill>
                <a:latin typeface="Calibri"/>
              </a:rPr>
              <a:t>Analytics, machine learning, and MLOps deployment working as a single system: a trusted SQL foundation, calibrated and fair classifiers, a served API, and a governed monitoring loop — all reproducible from a clean checkout.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212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A78D6"/>
                </a:solidFill>
                <a:latin typeface="Calibri"/>
              </a:rPr>
              <a:t>github.com/code-4-fun/capstone-healthcare-analytics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6235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1">
                <a:solidFill>
                  <a:srgbClr val="0B0B0B"/>
                </a:solidFill>
                <a:latin typeface="Calibri"/>
              </a:rP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